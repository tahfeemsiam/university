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319" r:id="rId7"/>
    <p:sldId id="320" r:id="rId8"/>
    <p:sldId id="321" r:id="rId9"/>
    <p:sldId id="322" r:id="rId10"/>
    <p:sldId id="338" r:id="rId11"/>
    <p:sldId id="339" r:id="rId12"/>
    <p:sldId id="340" r:id="rId13"/>
    <p:sldId id="323" r:id="rId14"/>
    <p:sldId id="344" r:id="rId15"/>
    <p:sldId id="345" r:id="rId16"/>
    <p:sldId id="324" r:id="rId17"/>
    <p:sldId id="330" r:id="rId18"/>
    <p:sldId id="325" r:id="rId19"/>
    <p:sldId id="331" r:id="rId20"/>
    <p:sldId id="332" r:id="rId21"/>
    <p:sldId id="333" r:id="rId22"/>
    <p:sldId id="334" r:id="rId23"/>
    <p:sldId id="335" r:id="rId24"/>
    <p:sldId id="336" r:id="rId25"/>
    <p:sldId id="342" r:id="rId26"/>
    <p:sldId id="343" r:id="rId2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07C04-E6B4-580F-4556-C8E6FE7E1DA4}" v="1" dt="2026-07-29T04:10:49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278720" y="155520"/>
            <a:ext cx="10515240" cy="243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1332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3412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858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51332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3412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78720" y="155520"/>
            <a:ext cx="10515240" cy="243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1332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3412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858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51332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3412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2159-A857-4EAD-B083-643A3808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ED66-E1AC-49A0-BAB5-5FAF621D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35853-F68A-49F7-9FBE-22665700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A7BD-8851-4305-AD9D-308E20B08D2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AD9B-7B15-4CA0-B12B-F9D237A2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F66F-0D87-4DA7-8E07-D7677052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12B1-5658-4BA2-85B3-58AE2812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3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www.northsouth.edu/newassets/images/nsu-photo/logo-4.png"/>
          <p:cNvPicPr/>
          <p:nvPr/>
        </p:nvPicPr>
        <p:blipFill>
          <a:blip r:embed="rId14"/>
          <a:stretch/>
        </p:blipFill>
        <p:spPr>
          <a:xfrm>
            <a:off x="0" y="0"/>
            <a:ext cx="495000" cy="396000"/>
          </a:xfrm>
          <a:prstGeom prst="rect">
            <a:avLst/>
          </a:prstGeom>
          <a:ln>
            <a:noFill/>
          </a:ln>
        </p:spPr>
      </p:pic>
      <p:sp>
        <p:nvSpPr>
          <p:cNvPr id="8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C89FF3-F287-463E-B9E0-2CA80902EE54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8/1/2026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ACB3908-3EF1-4FA9-B279-E4382CF2900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C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http://www.northsouth.edu/newassets/images/nsu-photo/logo-4.png"/>
          <p:cNvPicPr/>
          <p:nvPr/>
        </p:nvPicPr>
        <p:blipFill>
          <a:blip r:embed="rId15"/>
          <a:stretch/>
        </p:blipFill>
        <p:spPr>
          <a:xfrm>
            <a:off x="0" y="0"/>
            <a:ext cx="495000" cy="396000"/>
          </a:xfrm>
          <a:prstGeom prst="rect">
            <a:avLst/>
          </a:prstGeom>
          <a:ln>
            <a:noFill/>
          </a:ln>
        </p:spPr>
      </p:pic>
      <p:sp>
        <p:nvSpPr>
          <p:cNvPr id="44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Second level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rgbClr val="C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C00000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CCE3777-C975-48F3-92B7-6D1EE36D680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8/1/2026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633C353-E8BE-4FF9-9203-94AB0FF140AD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1523880" y="2245680"/>
            <a:ext cx="9143640" cy="156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CSE 465</a:t>
            </a:r>
            <a:br>
              <a:rPr/>
            </a:b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Lecture </a:t>
            </a:r>
            <a:r>
              <a:rPr lang="en-US" sz="4800" b="1" spc="-1">
                <a:solidFill>
                  <a:srgbClr val="002060"/>
                </a:solidFill>
                <a:latin typeface="Calibri Light"/>
              </a:rPr>
              <a:t>9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1523880" y="3947040"/>
            <a:ext cx="9143640" cy="5724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70C0"/>
                </a:solidFill>
                <a:latin typeface="Calibri"/>
              </a:rPr>
              <a:t>More CNN Architectures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0" y="0"/>
            <a:ext cx="5920200" cy="2130480"/>
          </a:xfrm>
          <a:custGeom>
            <a:avLst/>
            <a:gdLst/>
            <a:ahLst/>
            <a:cxnLst/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9" name="CustomShape 4"/>
          <p:cNvSpPr/>
          <p:nvPr/>
        </p:nvSpPr>
        <p:spPr>
          <a:xfrm>
            <a:off x="5097960" y="0"/>
            <a:ext cx="7093800" cy="2130480"/>
          </a:xfrm>
          <a:custGeom>
            <a:avLst/>
            <a:gdLst/>
            <a:ahLst/>
            <a:cxnLst/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0" name="CustomShape 5"/>
          <p:cNvSpPr/>
          <p:nvPr/>
        </p:nvSpPr>
        <p:spPr>
          <a:xfrm flipH="1">
            <a:off x="6149880" y="4682880"/>
            <a:ext cx="4522320" cy="2174760"/>
          </a:xfrm>
          <a:custGeom>
            <a:avLst/>
            <a:gdLst/>
            <a:ahLst/>
            <a:cxnLst/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CustomShape 6"/>
          <p:cNvSpPr/>
          <p:nvPr/>
        </p:nvSpPr>
        <p:spPr>
          <a:xfrm>
            <a:off x="6266880" y="4682880"/>
            <a:ext cx="5924880" cy="2174760"/>
          </a:xfrm>
          <a:custGeom>
            <a:avLst/>
            <a:gdLst/>
            <a:ahLst/>
            <a:cxnLst/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2" name="CustomShape 7"/>
          <p:cNvSpPr/>
          <p:nvPr/>
        </p:nvSpPr>
        <p:spPr>
          <a:xfrm>
            <a:off x="0" y="4682880"/>
            <a:ext cx="7114320" cy="2174760"/>
          </a:xfrm>
          <a:custGeom>
            <a:avLst/>
            <a:gdLst/>
            <a:ahLst/>
            <a:cxnLst/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5DA78-C560-472C-88FA-822F0A476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681" y="1107867"/>
                <a:ext cx="11320200" cy="5236920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Input and kernel are split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/>
                  <a:t> groups across channel dimension</a:t>
                </a:r>
              </a:p>
              <a:p>
                <a:r>
                  <a:rPr lang="en-US"/>
                  <a:t>Each group then performs the convolutions independently</a:t>
                </a:r>
              </a:p>
              <a:p>
                <a:r>
                  <a:rPr lang="en-US"/>
                  <a:t>Each layer is defined using following parameters:</a:t>
                </a:r>
              </a:p>
              <a:p>
                <a:pPr lvl="1"/>
                <a:r>
                  <a:rPr lang="en-US"/>
                  <a:t># Input channels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)</a:t>
                </a:r>
              </a:p>
              <a:p>
                <a:pPr lvl="1"/>
                <a:r>
                  <a:rPr lang="en-US"/>
                  <a:t># Output channels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)</a:t>
                </a:r>
              </a:p>
              <a:p>
                <a:pPr lvl="1"/>
                <a:r>
                  <a:rPr lang="en-US"/>
                  <a:t>Kernel 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/>
                  <a:t> </a:t>
                </a:r>
              </a:p>
              <a:p>
                <a:pPr lvl="1"/>
                <a:r>
                  <a:rPr lang="en-US"/>
                  <a:t>Padding</a:t>
                </a:r>
              </a:p>
              <a:p>
                <a:pPr lvl="1"/>
                <a:r>
                  <a:rPr lang="en-US"/>
                  <a:t>Stride</a:t>
                </a:r>
              </a:p>
              <a:p>
                <a:pPr lvl="1"/>
                <a:r>
                  <a:rPr lang="en-US"/>
                  <a:t>Dilation rate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)</a:t>
                </a:r>
              </a:p>
              <a:p>
                <a:pPr lvl="1"/>
                <a:r>
                  <a:rPr lang="en-US"/>
                  <a:t># of groups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/>
                  <a:t>)</a:t>
                </a:r>
              </a:p>
              <a:p>
                <a:r>
                  <a:rPr lang="en-US">
                    <a:solidFill>
                      <a:srgbClr val="FF0000"/>
                    </a:solidFill>
                  </a:rPr>
                  <a:t>Parameter reduction??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5DA78-C560-472C-88FA-822F0A476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681" y="1107867"/>
                <a:ext cx="11320200" cy="5236920"/>
              </a:xfrm>
              <a:blipFill>
                <a:blip r:embed="rId2"/>
                <a:stretch>
                  <a:fillRect l="-969" t="-2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Group Convolution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62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663B-AFD1-4F96-A2C5-5493AB63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770" y="244138"/>
            <a:ext cx="10515240" cy="525240"/>
          </a:xfrm>
        </p:spPr>
        <p:txBody>
          <a:bodyPr lIns="91440" tIns="45720" rIns="91440" bIns="45720" anchor="ctr">
            <a:noAutofit/>
          </a:bodyPr>
          <a:lstStyle/>
          <a:p>
            <a:r>
              <a:rPr lang="en-US">
                <a:solidFill>
                  <a:srgbClr val="002060"/>
                </a:solidFill>
              </a:rPr>
              <a:t>Group vs Standard Convolution Layer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D9513D-A28B-4499-83F6-7A5456E86520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768" y="2979339"/>
            <a:ext cx="4139059" cy="157162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865407-F7EE-4465-8009-141CAF26852D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319" y="2816554"/>
            <a:ext cx="4996481" cy="1897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9CBDA4-3EBD-4487-B815-F5F120057543}"/>
              </a:ext>
            </a:extLst>
          </p:cNvPr>
          <p:cNvSpPr txBox="1"/>
          <p:nvPr/>
        </p:nvSpPr>
        <p:spPr>
          <a:xfrm>
            <a:off x="909850" y="4891719"/>
            <a:ext cx="293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Figure: </a:t>
            </a:r>
            <a:r>
              <a:rPr lang="en-US"/>
              <a:t>Standard convolution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D55E0-D169-4266-995D-516FC2CA83CC}"/>
              </a:ext>
            </a:extLst>
          </p:cNvPr>
          <p:cNvSpPr txBox="1"/>
          <p:nvPr/>
        </p:nvSpPr>
        <p:spPr>
          <a:xfrm>
            <a:off x="7390927" y="4891719"/>
            <a:ext cx="2929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Figure: </a:t>
            </a:r>
            <a:r>
              <a:rPr lang="en-US"/>
              <a:t>Grouped convolution </a:t>
            </a:r>
          </a:p>
        </p:txBody>
      </p:sp>
    </p:spTree>
    <p:extLst>
      <p:ext uri="{BB962C8B-B14F-4D97-AF65-F5344CB8AC3E}">
        <p14:creationId xmlns:p14="http://schemas.microsoft.com/office/powerpoint/2010/main" val="393860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DA96-413D-4D3E-B6E5-FEDBC933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Autofit/>
          </a:bodyPr>
          <a:lstStyle/>
          <a:p>
            <a:pPr algn="ctr"/>
            <a:r>
              <a:rPr lang="en-US">
                <a:solidFill>
                  <a:srgbClr val="002060"/>
                </a:solidFill>
              </a:rPr>
              <a:t>Depth-wise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286F-3500-4BBC-BBA0-AD01AC7C6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rgbClr val="0070C0"/>
                </a:solidFill>
              </a:rPr>
              <a:t>Special case of group convolution where each channel is processed independently</a:t>
            </a:r>
          </a:p>
          <a:p>
            <a:pPr marL="914400" lvl="2" indent="0">
              <a:buNone/>
            </a:pPr>
            <a:r>
              <a:rPr lang="en-US">
                <a:solidFill>
                  <a:srgbClr val="0070C0"/>
                </a:solidFill>
              </a:rPr>
              <a:t>		# input channels = # groups = # output channels</a:t>
            </a:r>
          </a:p>
          <a:p>
            <a:r>
              <a:rPr lang="en-US">
                <a:solidFill>
                  <a:srgbClr val="FF0000"/>
                </a:solidFill>
              </a:rPr>
              <a:t>Parameter reduction??</a:t>
            </a:r>
          </a:p>
          <a:p>
            <a:pPr marL="457200" lvl="1" indent="0">
              <a:buNone/>
            </a:pPr>
            <a:r>
              <a:rPr lang="en-US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86067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Autofit/>
          </a:bodyPr>
          <a:lstStyle/>
          <a:p>
            <a:pPr algn="ctr"/>
            <a:r>
              <a:rPr lang="en-US">
                <a:solidFill>
                  <a:srgbClr val="002060"/>
                </a:solidFill>
              </a:rPr>
              <a:t>MobileNet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19240"/>
            <a:ext cx="6258682" cy="5236920"/>
          </a:xfrm>
        </p:spPr>
        <p:txBody>
          <a:bodyPr lIns="91440" tIns="45720" rIns="91440" bIns="45720" anchor="t">
            <a:noAutofit/>
          </a:bodyPr>
          <a:lstStyle/>
          <a:p>
            <a:pPr fontAlgn="base"/>
            <a:r>
              <a:rPr lang="en-US">
                <a:solidFill>
                  <a:srgbClr val="0070C0"/>
                </a:solidFill>
              </a:rPr>
              <a:t>Replaces expensive convolution layers by a cheaper </a:t>
            </a:r>
            <a:r>
              <a:rPr lang="en-US" b="1" err="1">
                <a:solidFill>
                  <a:srgbClr val="0070C0"/>
                </a:solidFill>
              </a:rPr>
              <a:t>depthwise</a:t>
            </a:r>
            <a:r>
              <a:rPr lang="en-US" b="1">
                <a:solidFill>
                  <a:srgbClr val="0070C0"/>
                </a:solidFill>
              </a:rPr>
              <a:t> separable</a:t>
            </a:r>
            <a:r>
              <a:rPr lang="en-US">
                <a:solidFill>
                  <a:srgbClr val="0070C0"/>
                </a:solidFill>
              </a:rPr>
              <a:t> convolution, a 3×3 </a:t>
            </a:r>
            <a:r>
              <a:rPr lang="en-US" err="1">
                <a:solidFill>
                  <a:srgbClr val="0070C0"/>
                </a:solidFill>
              </a:rPr>
              <a:t>depthwise</a:t>
            </a:r>
            <a:r>
              <a:rPr lang="en-US">
                <a:solidFill>
                  <a:srgbClr val="0070C0"/>
                </a:solidFill>
              </a:rPr>
              <a:t> convolution layer followed by a 1×1 pointwise convolution layer</a:t>
            </a:r>
          </a:p>
          <a:p>
            <a:pPr fontAlgn="base"/>
            <a:r>
              <a:rPr lang="en-US">
                <a:solidFill>
                  <a:srgbClr val="0070C0"/>
                </a:solidFill>
              </a:rPr>
              <a:t>This requires a lot fewer learned parameters than a regular convolution but approximately does the same thing</a:t>
            </a:r>
            <a:br>
              <a:rPr lang="en-US"/>
            </a:br>
            <a:endParaRPr lang="en-US"/>
          </a:p>
        </p:txBody>
      </p:sp>
      <p:pic>
        <p:nvPicPr>
          <p:cNvPr id="1026" name="Picture 2" descr="https://miro.medium.com/v2/resize:fit:875/1*gbKMeCqsuAvfhMEm4MyWA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855" y="1572788"/>
            <a:ext cx="5106251" cy="3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49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EEB2-E91F-52B7-6FC7-74769A86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Autofit/>
          </a:bodyPr>
          <a:lstStyle/>
          <a:p>
            <a:pPr algn="ctr"/>
            <a:r>
              <a:rPr lang="en-US">
                <a:solidFill>
                  <a:srgbClr val="002060"/>
                </a:solidFill>
              </a:rPr>
              <a:t>MobileNet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FC6F-466E-6C26-1186-324D6F9BF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96494"/>
            <a:ext cx="6828243" cy="5259666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rgbClr val="0070C0"/>
                </a:solidFill>
              </a:rPr>
              <a:t>There are no pooling layers in between these </a:t>
            </a:r>
            <a:r>
              <a:rPr lang="en-US" err="1">
                <a:solidFill>
                  <a:srgbClr val="0070C0"/>
                </a:solidFill>
              </a:rPr>
              <a:t>depthwise</a:t>
            </a:r>
            <a:r>
              <a:rPr lang="en-US">
                <a:solidFill>
                  <a:srgbClr val="0070C0"/>
                </a:solidFill>
              </a:rPr>
              <a:t> separable blocks</a:t>
            </a:r>
          </a:p>
          <a:p>
            <a:r>
              <a:rPr lang="en-US">
                <a:solidFill>
                  <a:srgbClr val="0070C0"/>
                </a:solidFill>
              </a:rPr>
              <a:t>Some of the </a:t>
            </a:r>
            <a:r>
              <a:rPr lang="en-US" err="1">
                <a:solidFill>
                  <a:srgbClr val="0070C0"/>
                </a:solidFill>
              </a:rPr>
              <a:t>depthwise</a:t>
            </a:r>
            <a:r>
              <a:rPr lang="en-US">
                <a:solidFill>
                  <a:srgbClr val="0070C0"/>
                </a:solidFill>
              </a:rPr>
              <a:t> layers have a stride of 2 to reduce the spatial dimensions of the data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In that case, the corresponding pointwise layer also doubles the number of output channels. If the input image is 224×224×3 then the output of the network is a 7×7×1024 feature map.</a:t>
            </a:r>
          </a:p>
        </p:txBody>
      </p:sp>
      <p:pic>
        <p:nvPicPr>
          <p:cNvPr id="1027" name="Picture 3" descr="A depthwise separable convolution block">
            <a:extLst>
              <a:ext uri="{FF2B5EF4-FFF2-40B4-BE49-F238E27FC236}">
                <a16:creationId xmlns:a16="http://schemas.microsoft.com/office/drawing/2014/main" id="{3A1D2386-99E9-09C9-EA55-55B662A25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494" y="1077363"/>
            <a:ext cx="3704706" cy="493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50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FC3E-115B-842A-B2DE-3D259B48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err="1">
                <a:solidFill>
                  <a:srgbClr val="002060"/>
                </a:solidFill>
              </a:rPr>
              <a:t>MobileNet</a:t>
            </a:r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B59E-2B8C-52D6-7F4B-BCE617FB6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240"/>
            <a:ext cx="11320200" cy="2068691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rgbClr val="0070C0"/>
                </a:solidFill>
              </a:rPr>
              <a:t>The convolution layers are followed by batch normalization. </a:t>
            </a:r>
          </a:p>
          <a:p>
            <a:r>
              <a:rPr lang="en-US">
                <a:solidFill>
                  <a:srgbClr val="0070C0"/>
                </a:solidFill>
              </a:rPr>
              <a:t>The activation function used by MobileNet is ReLU6. </a:t>
            </a:r>
          </a:p>
          <a:p>
            <a:r>
              <a:rPr lang="en-US">
                <a:solidFill>
                  <a:srgbClr val="0070C0"/>
                </a:solidFill>
              </a:rPr>
              <a:t>This is like the well-known ReLU but it prevents activations from becoming too big: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050" name="Picture 2" descr="The ReLU6 activation function">
            <a:extLst>
              <a:ext uri="{FF2B5EF4-FFF2-40B4-BE49-F238E27FC236}">
                <a16:creationId xmlns:a16="http://schemas.microsoft.com/office/drawing/2014/main" id="{F2306EA1-9A6C-9A7B-4523-0D65F9A85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895" y="3831128"/>
            <a:ext cx="566737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65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73A0-A698-87E9-6343-9539A1C1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err="1">
                <a:solidFill>
                  <a:srgbClr val="002060"/>
                </a:solidFill>
              </a:rPr>
              <a:t>MobileNet</a:t>
            </a:r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0764-FDCE-7D4C-E584-EA2941BEF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rgbClr val="0070C0"/>
                </a:solidFill>
              </a:rPr>
              <a:t>MobileNet can be configured using hyperparameters</a:t>
            </a:r>
          </a:p>
          <a:p>
            <a:r>
              <a:rPr lang="en-US">
                <a:solidFill>
                  <a:srgbClr val="0070C0"/>
                </a:solidFill>
              </a:rPr>
              <a:t>The most important hyperparameter is the depth multiplier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That is how many channels are in each layer</a:t>
            </a:r>
          </a:p>
          <a:p>
            <a:r>
              <a:rPr lang="en-US">
                <a:solidFill>
                  <a:srgbClr val="0070C0"/>
                </a:solidFill>
              </a:rPr>
              <a:t>Using a depth multiplier of 0.5 will halve the number of channels used in each layer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Reducing the number of computations roughly by a factor of 2</a:t>
            </a:r>
          </a:p>
          <a:p>
            <a:r>
              <a:rPr lang="en-US">
                <a:solidFill>
                  <a:srgbClr val="0070C0"/>
                </a:solidFill>
              </a:rPr>
              <a:t>MobileNet is roughly nine times faster if used with </a:t>
            </a:r>
            <a:r>
              <a:rPr lang="en-US" err="1">
                <a:solidFill>
                  <a:srgbClr val="0070C0"/>
                </a:solidFill>
              </a:rPr>
              <a:t>depthwise</a:t>
            </a:r>
            <a:r>
              <a:rPr lang="en-US">
                <a:solidFill>
                  <a:srgbClr val="0070C0"/>
                </a:solidFill>
              </a:rPr>
              <a:t> separable convolution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0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7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FF68-E3C9-027C-06C1-D610132B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Image Processing</a:t>
            </a:r>
            <a:endParaRPr lang="en-US"/>
          </a:p>
        </p:txBody>
      </p:sp>
      <p:pic>
        <p:nvPicPr>
          <p:cNvPr id="4" name="Picture 3" descr="A collage of sheep walking on grass&#10;&#10;AI-generated content may be incorrect.">
            <a:extLst>
              <a:ext uri="{FF2B5EF4-FFF2-40B4-BE49-F238E27FC236}">
                <a16:creationId xmlns:a16="http://schemas.microsoft.com/office/drawing/2014/main" id="{E86E895E-DD66-BE10-7BBA-EAA91F5CB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19" y="1398876"/>
            <a:ext cx="10386579" cy="500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79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26DE-9424-F7F6-DD1D-9D1C3F33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Neural Image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4244-1DB6-27CB-79D3-8DF09A283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Image recognition (classification): Assigns one or more labels to the entire image to say what is present.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Object detection: Finds and labels each object in the image with a bounding box to say what and roughly where.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Semantic segmentation: Classifies every pixel into a class, giving a dense map of what type of thing each pixel belongs to.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Instance segmentation: Identifies each object separately and gives a precise pixel-level mask for every individual instance.</a:t>
            </a:r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2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>
                <a:solidFill>
                  <a:srgbClr val="002060"/>
                </a:solidFill>
              </a:rPr>
              <a:t>UNET – CNN for semantic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UNET is one of the most popular architecture for medical image segmentation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It is designed to learn from few training samples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It uses fully convolutional scheme – no fully connected neurons are used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UNET is a U-shaped encoder-decoder network architecture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It consists of four encoder blocks and four decoder blocks that are connected via a bridge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1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iro.medium.com/v2/resize:fit:875/1*lvXoKMHoPJMKpKK7keZME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707" y="914562"/>
            <a:ext cx="8334375" cy="555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</p:spPr>
        <p:txBody>
          <a:bodyPr/>
          <a:lstStyle/>
          <a:p>
            <a:pPr algn="ctr"/>
            <a:r>
              <a:rPr lang="en-US" sz="4000" b="1">
                <a:solidFill>
                  <a:srgbClr val="002060"/>
                </a:solidFill>
              </a:rPr>
              <a:t>UNET – CNN for 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164246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encoder network (contracting path) half the spatial dimensions and double the number of features (feature channels) at each encoder block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decoder network doubles the spatial dimensions and half the number of feature channels.</a:t>
            </a:r>
          </a:p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</p:spPr>
        <p:txBody>
          <a:bodyPr/>
          <a:lstStyle/>
          <a:p>
            <a:pPr algn="ctr"/>
            <a:r>
              <a:rPr lang="en-US" sz="4000" b="1">
                <a:solidFill>
                  <a:srgbClr val="002060"/>
                </a:solidFill>
              </a:rPr>
              <a:t>UNET – CNN for 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151481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UNET – Encoder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encoder network acts as the feature extractor and learns an abstract representation of the input image through a sequence of the encoder blocks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Each encoder block consists of two 3x3 convolutions followed by a ReLU (Rectified Linear Unit) activation function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Next follows a 2x2 max-pooling, where the spatial dimensions (height and width) of the feature maps are reduced by half 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This reduces the computational cost by decreasing the number of trainable parameters</a:t>
            </a:r>
            <a:br>
              <a:rPr lang="en-US">
                <a:solidFill>
                  <a:schemeClr val="accent5">
                    <a:lumMod val="76000"/>
                  </a:schemeClr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0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UNET – Skip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 dirty="0">
                <a:solidFill>
                  <a:schemeClr val="accent5">
                    <a:lumMod val="76000"/>
                  </a:schemeClr>
                </a:solidFill>
              </a:rPr>
              <a:t>Skip connections provide additional information that helps the decoder to generate better semantic features</a:t>
            </a:r>
          </a:p>
          <a:p>
            <a:r>
              <a:rPr lang="en-US" dirty="0">
                <a:solidFill>
                  <a:schemeClr val="accent5">
                    <a:lumMod val="76000"/>
                  </a:schemeClr>
                </a:solidFill>
              </a:rPr>
              <a:t>They also act as a shortcut connection that helps the indirect flow of gradients to the earlier layers without any degradation</a:t>
            </a:r>
          </a:p>
          <a:p>
            <a:r>
              <a:rPr lang="en-US" dirty="0">
                <a:solidFill>
                  <a:schemeClr val="accent5">
                    <a:lumMod val="76000"/>
                  </a:schemeClr>
                </a:solidFill>
              </a:rPr>
              <a:t>Skip connection helps better flow of gradient during backpropagation, which helps the network to learn better representation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UNET – bridge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bridge connects the encoder and the decoder network and completes the flow of information 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It consists of two 3x3 convolutions, where a ReLU activation function follows each convolution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47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UNET – Decoder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decoder network is used to take the abstract representation and generate a semantic segmentation mask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The decoder block starts with a 2x2 transpose convolution </a:t>
            </a:r>
          </a:p>
          <a:p>
            <a:pPr lvl="1"/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Next, it is concatenated with the corresponding skip connection feature map from the encoder block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After that, two 3x3 convolutions are used, where a ReLU activation function follows each convolution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44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Transpose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A transposed convolution (can be thought as) the reverse of convolution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Get back to the same spatial resolution as the original image </a:t>
            </a:r>
          </a:p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A transposed convolutional layer carries out a regular convolution but reverts its spatial transformation</a:t>
            </a:r>
          </a:p>
          <a:p>
            <a:pPr marL="0" indent="0"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47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Transpose Convolution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921"/>
            <a:ext cx="5121084" cy="22709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471" y="2674772"/>
            <a:ext cx="5806943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54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Dilated Convolution</a:t>
            </a:r>
          </a:p>
        </p:txBody>
      </p:sp>
      <p:pic>
        <p:nvPicPr>
          <p:cNvPr id="1028" name="Picture 4" descr="https://miro.medium.com/v2/resize:fit:494/0*oX5IPr7TlVM2NpEU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720" y="1314386"/>
            <a:ext cx="37623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miro.medium.com/v2/resize:fit:494/0*3cTXIemm0k3Sbask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340" y="1183756"/>
            <a:ext cx="37623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09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Dilated Convolution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12" y="1738963"/>
            <a:ext cx="9111122" cy="348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70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1" ma:contentTypeDescription="Create a new document." ma:contentTypeScope="" ma:versionID="d4892a4f4818e9a64a18cbde479d0e9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8f213455d3c596eed0049c86b9df54b7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3A4138-318A-48BF-B889-64DA93825360}">
  <ds:schemaRefs>
    <ds:schemaRef ds:uri="acd04cee-d56a-427f-9d20-a2ddbaad1b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FCE629-FCEC-4BAB-A2E6-B5A895533AAE}">
  <ds:schemaRefs>
    <ds:schemaRef ds:uri="acd04cee-d56a-427f-9d20-a2ddbaad1b8a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4CB3966-BAA4-4C3F-9D60-D70EF6A01F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Office Theme</vt:lpstr>
      <vt:lpstr>PowerPoint Presentation</vt:lpstr>
      <vt:lpstr>PowerPoint Presentation</vt:lpstr>
      <vt:lpstr>Group vs Standard Convolution Layer</vt:lpstr>
      <vt:lpstr>Depth-wise Convolution</vt:lpstr>
      <vt:lpstr>MobileNet</vt:lpstr>
      <vt:lpstr>MobileNet</vt:lpstr>
      <vt:lpstr>MobileNet</vt:lpstr>
      <vt:lpstr>MobileNet</vt:lpstr>
      <vt:lpstr>PowerPoint Presentation</vt:lpstr>
      <vt:lpstr>Image Processing</vt:lpstr>
      <vt:lpstr>Neural Image Processing</vt:lpstr>
      <vt:lpstr>UNET – CNN for semantic segmentation</vt:lpstr>
      <vt:lpstr>UNET – CNN for semantic segmentation</vt:lpstr>
      <vt:lpstr>UNET – CNN for semantic segmentation</vt:lpstr>
      <vt:lpstr>UNET – Encoder Block</vt:lpstr>
      <vt:lpstr>UNET – Skip Connection</vt:lpstr>
      <vt:lpstr>UNET – bridge </vt:lpstr>
      <vt:lpstr>UNET – Decoder </vt:lpstr>
      <vt:lpstr>Transpose Convolution</vt:lpstr>
      <vt:lpstr>Transpose Convolution</vt:lpstr>
      <vt:lpstr>Dilated Convolution</vt:lpstr>
      <vt:lpstr>Dilated Convolution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subject/>
  <dc:creator>Mohammad Khan</dc:creator>
  <dc:description/>
  <cp:revision>9</cp:revision>
  <dcterms:created xsi:type="dcterms:W3CDTF">2018-11-03T12:07:21Z</dcterms:created>
  <dcterms:modified xsi:type="dcterms:W3CDTF">2026-08-01T11:53:31Z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60</vt:i4>
  </property>
  <property fmtid="{D5CDD505-2E9C-101B-9397-08002B2CF9AE}" pid="12" name="ContentTypeId">
    <vt:lpwstr>0x010100688F25371BF2364E9237A48B420CBFE6</vt:lpwstr>
  </property>
</Properties>
</file>