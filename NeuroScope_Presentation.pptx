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03E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203E"/>
                </a:solidFill>
                <a:latin typeface="Calibri"/>
              </a:rPr>
              <a:t>F1-Score by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7B6B0"/>
            </a:solidFill>
            <a:effectLst/>
          </c:spPr>
          <c:invertIfNegative val="0"/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2203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Glioma</c:v>
                </c:pt>
                <c:pt idx="1">
                  <c:v>Meningioma</c:v>
                </c:pt>
                <c:pt idx="2">
                  <c:v>Pituitary</c:v>
                </c:pt>
                <c:pt idx="3">
                  <c:v>No Tumor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0.98680000000000001</c:v>
                </c:pt>
                <c:pt idx="1">
                  <c:v>0.99109999999999998</c:v>
                </c:pt>
                <c:pt idx="2">
                  <c:v>0.98250000000000004</c:v>
                </c:pt>
                <c:pt idx="3">
                  <c:v>0.97729999999999995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6F-4A31-8EAB-FBF9DAC7B9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5"/>
        </c:scaling>
        <c:delete val="0"/>
        <c:axPos val="l"/>
        <c:majorGridlines>
          <c:spPr>
            <a:ln w="1270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0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7040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320040" cy="320040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143000"/>
            <a:ext cx="320040" cy="320040"/>
          </a:xfrm>
          <a:prstGeom prst="ellipse">
            <a:avLst/>
          </a:prstGeom>
          <a:solidFill>
            <a:srgbClr val="8E6FD1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640080"/>
            <a:ext cx="320040" cy="320040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0" y="1051560"/>
            <a:ext cx="320040" cy="32004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0" y="1600200"/>
            <a:ext cx="320040" cy="320040"/>
          </a:xfrm>
          <a:prstGeom prst="ellipse">
            <a:avLst/>
          </a:prstGeom>
          <a:solidFill>
            <a:srgbClr val="6FA8D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7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/ EDUCATIONAL PROJECT — NOT A DIAGNOSTIC DEVICE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2344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NeuroScope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Tumor MRI Classification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669280" cy="0"/>
          </a:xfrm>
          <a:prstGeom prst="line">
            <a:avLst/>
          </a:prstGeom>
          <a:noFill/>
          <a:ln w="12700">
            <a:solidFill>
              <a:srgbClr val="2942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392424"/>
            <a:ext cx="100584" cy="100584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2186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   </a:t>
            </a:r>
            <a:r>
              <a:rPr lang="en-US" sz="14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brain MRI classification and explainability platform.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100584" cy="100584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749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Target   </a:t>
            </a:r>
            <a:r>
              <a:rPr lang="en-US" sz="14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MRI scans into Glioma, Meningioma, Pituitary tumor, or No Tumor.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636008"/>
            <a:ext cx="100584" cy="100584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6227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Innovation   </a:t>
            </a:r>
            <a:r>
              <a:rPr lang="en-US" sz="14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Swin-Transformer backbone with an interactive 3D anatomical viewer.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0584" cy="100584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7550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Transparency   </a:t>
            </a:r>
            <a:r>
              <a:rPr lang="en-US" sz="14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Grad-CAM visual heatmaps and out-of-distribution (OOD) guardrails.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732520" y="3017520"/>
            <a:ext cx="2926080" cy="3063240"/>
          </a:xfrm>
          <a:prstGeom prst="roundRect">
            <a:avLst>
              <a:gd name="adj" fmla="val 3750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325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17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474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98.45%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4343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4 tumor classes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52560" y="4800600"/>
            <a:ext cx="2286000" cy="0"/>
          </a:xfrm>
          <a:prstGeom prst="line">
            <a:avLst/>
          </a:prstGeom>
          <a:noFill/>
          <a:ln w="12700">
            <a:solidFill>
              <a:srgbClr val="29427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15400" y="4937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+ JEPA self-supervised pretraining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· Three.js 3D viewer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DBFB52-C057-3769-12F6-5CC65381E8E7}"/>
              </a:ext>
            </a:extLst>
          </p:cNvPr>
          <p:cNvSpPr txBox="1"/>
          <p:nvPr/>
        </p:nvSpPr>
        <p:spPr>
          <a:xfrm>
            <a:off x="5250873" y="1481328"/>
            <a:ext cx="5424747" cy="12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Group members:</a:t>
            </a:r>
          </a:p>
          <a:p>
            <a:pPr algn="ctr">
              <a:lnSpc>
                <a:spcPct val="133000"/>
              </a:lnSpc>
              <a:spcAft>
                <a:spcPts val="1250"/>
              </a:spcAft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</a:rPr>
              <a:t>Name: </a:t>
            </a:r>
            <a:r>
              <a:rPr lang="en-US" sz="1400" dirty="0" err="1">
                <a:solidFill>
                  <a:schemeClr val="bg1"/>
                </a:solidFill>
                <a:latin typeface="Manrope" pitchFamily="34" charset="0"/>
              </a:rPr>
              <a:t>Tahfeem</a:t>
            </a:r>
            <a:r>
              <a:rPr lang="en-US" sz="1400" dirty="0">
                <a:solidFill>
                  <a:schemeClr val="bg1"/>
                </a:solidFill>
                <a:latin typeface="Manrope" pitchFamily="34" charset="0"/>
              </a:rPr>
              <a:t> Islam Siam  ID: 2211164042</a:t>
            </a:r>
          </a:p>
          <a:p>
            <a:pPr algn="ctr">
              <a:lnSpc>
                <a:spcPct val="133000"/>
              </a:lnSpc>
              <a:spcAft>
                <a:spcPts val="1250"/>
              </a:spcAft>
            </a:pPr>
            <a:r>
              <a:rPr lang="en-US" sz="1400" dirty="0">
                <a:solidFill>
                  <a:schemeClr val="bg1"/>
                </a:solidFill>
                <a:latin typeface="Manrope" pitchFamily="34" charset="0"/>
              </a:rPr>
              <a:t>Name: Akib Sadman Nafi ID:2211224042 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and achievements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585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two-stage training pipeline using JEPA-style pretraining.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20840" y="1965960"/>
            <a:ext cx="548640" cy="548640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1892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Benchmark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25856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98.45% overall test accuracy across all 4 classes.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6301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Transparency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959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per-image Grad-CAM heatmaps to highlight decision-driving regions.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429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3703320"/>
            <a:ext cx="548640" cy="548640"/>
          </a:xfrm>
          <a:prstGeom prst="ellipse">
            <a:avLst/>
          </a:prstGeom>
          <a:solidFill>
            <a:srgbClr val="8E6FD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208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36301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Safety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995928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multi-tier guardrails to filter non-grayscale or ambiguous images.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3385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440680"/>
            <a:ext cx="548640" cy="548640"/>
          </a:xfrm>
          <a:prstGeom prst="ellipse">
            <a:avLst/>
          </a:prstGeom>
          <a:solidFill>
            <a:srgbClr val="3E8AA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367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Reference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73328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dynamic 3D brain mesh viewer to visualize anatomical context.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Innovations vs. existing systems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709160" y="160020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12A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0" y="160020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17B6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869680" y="1600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709160" y="233172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0328" y="246888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Convolutional Neural Networks (CNNs) like ResNet or EfficientNet.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69680" y="233172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0F3A3D"/>
          </a:solidFill>
          <a:ln w="12700">
            <a:solidFill>
              <a:srgbClr val="17B6B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70848" y="246888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Transformer backbone producing patch token grids.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709160" y="37947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93192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pretraining on general image datasets (ImageNet).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69680" y="379476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0F3A3D"/>
          </a:solidFill>
          <a:ln w="12700">
            <a:solidFill>
              <a:srgbClr val="17B6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393192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JEPA-style pretraining directly on masked MRI representations.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Safety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709160" y="525780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10328" y="539496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models lacking input verification or visual grounding.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869680" y="525780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0F3A3D"/>
          </a:solidFill>
          <a:ln w="12700">
            <a:solidFill>
              <a:srgbClr val="17B6B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70848" y="5394960"/>
            <a:ext cx="26609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Flask &amp; Three.js app with OOD safety checks and 3D anatomical mapping.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(1/2)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preparation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  </a:t>
            </a: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PMRAM Bangladeshi Brain Cancer MRI Dataset (collected across 3 hospitals).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377440"/>
            <a:ext cx="146304" cy="146304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(400 per class × 4 classes)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77440"/>
            <a:ext cx="146304" cy="146304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images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rotation, shift, shear, zoom, flip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1488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38100" dir="5400000" algn="bl" rotWithShape="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2377440"/>
            <a:ext cx="146304" cy="146304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26060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512×512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 — uniform resize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every image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06424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389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389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389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846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4,202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48463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class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solidFill>
            <a:srgbClr val="EFF2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5303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5303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 during training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5760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5760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901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5760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only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6217920"/>
            <a:ext cx="11064240" cy="0"/>
          </a:xfrm>
          <a:prstGeom prst="line">
            <a:avLst/>
          </a:prstGeom>
          <a:noFill/>
          <a:ln w="12700">
            <a:solidFill>
              <a:srgbClr val="D6DC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training pipeline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Backbone   </a:t>
            </a:r>
            <a:r>
              <a:rPr lang="en-US" sz="13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Swin-Tiny generating a 7×7 grid of patch tokens (dimension 768).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84248"/>
            <a:ext cx="384048" cy="384048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 Pretraining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2532888"/>
            <a:ext cx="73152" cy="73152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87552" y="2395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encoder processes unmasked patches (40% masked)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916936"/>
            <a:ext cx="73152" cy="73152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87552" y="27797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encoder (EMA update) computes target representations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300984"/>
            <a:ext cx="73152" cy="73152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3163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predictor &amp; cross-attention decoder predict missing tokens via Smooth L1 loss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984248"/>
            <a:ext cx="384048" cy="384048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965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2532888"/>
            <a:ext cx="73152" cy="73152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02552" y="2395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head (768 → 4) attached to mean-pooled patch tokens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2916936"/>
            <a:ext cx="73152" cy="73152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02552" y="277977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with Cross-Entropy loss over 15 epochs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154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 pretraining + 15 epochs fine-tuning · AdamW · batch size 32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12A52"/>
          </a:solidFill>
          <a:ln w="19050">
            <a:solidFill>
              <a:srgbClr val="17B6B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343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4343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383280" y="4343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12A52"/>
          </a:solidFill>
          <a:ln w="19050">
            <a:solidFill>
              <a:srgbClr val="F0554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4343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715000" y="4343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17920" y="4343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12A52"/>
          </a:solidFill>
          <a:ln w="19050">
            <a:solidFill>
              <a:srgbClr val="F2B44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17920" y="4343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549640" y="4343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9052560" y="4343400"/>
            <a:ext cx="2331720" cy="868680"/>
          </a:xfrm>
          <a:prstGeom prst="roundRect">
            <a:avLst>
              <a:gd name="adj" fmla="val 8421"/>
            </a:avLst>
          </a:prstGeom>
          <a:solidFill>
            <a:srgbClr val="112A52"/>
          </a:solidFill>
          <a:ln w="19050">
            <a:solidFill>
              <a:srgbClr val="8E6FD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560" y="43434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0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(1/2)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869680" y="50292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0B1E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869680" y="548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8696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 · 901 scans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00200"/>
          <a:ext cx="55778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600200"/>
            <a:ext cx="5257800" cy="384048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64808" y="160020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4788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436608" y="1600200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0533888" y="160020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64808" y="1984248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47888" y="19842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436608" y="1984248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0533888" y="1984248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55080" y="2331720"/>
            <a:ext cx="5257800" cy="347472"/>
          </a:xfrm>
          <a:prstGeom prst="rect">
            <a:avLst/>
          </a:prstGeom>
          <a:solidFill>
            <a:srgbClr val="EFF2F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64808" y="2331720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47888" y="23317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9436608" y="233172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533888" y="23317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0.9911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64808" y="2679192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Pituitary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8247888" y="2679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0.9657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436608" y="26791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33888" y="26791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0.9825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3026664"/>
            <a:ext cx="5257800" cy="347472"/>
          </a:xfrm>
          <a:prstGeom prst="rect">
            <a:avLst/>
          </a:prstGeom>
          <a:solidFill>
            <a:srgbClr val="EFF2F8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64808" y="3026664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Tumor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8247888" y="3026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02666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0.9556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33888" y="3026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2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55080" y="3374136"/>
            <a:ext cx="5257800" cy="347472"/>
          </a:xfrm>
          <a:prstGeom prst="rect">
            <a:avLst/>
          </a:prstGeom>
          <a:solidFill>
            <a:srgbClr val="DDF3F1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464808" y="3374136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8247888" y="33741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0.9848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9436608" y="337413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0.9845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0533888" y="3374136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0.9844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12A52"/>
          </a:solidFill>
          <a:ln/>
        </p:spPr>
      </p:sp>
      <p:sp>
        <p:nvSpPr>
          <p:cNvPr id="37" name="Shape 34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772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1463040" y="489204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r>
              <a:rPr lang="en-US" sz="13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target categories achieved greater than 0.97 F1-score. Pituitary shows perfect recall; No Tumor shows perfect precision.</a:t>
            </a:r>
            <a:endParaRPr lang="en-US" sz="13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(2/2)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application safeguards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F05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SAFETY GUARDRAILS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1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61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per-pixel RGB channel variance to reject non-grayscale images.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2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output confidence and entropy to flag uncertain predictions.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709160"/>
            <a:ext cx="4846320" cy="0"/>
          </a:xfrm>
          <a:prstGeom prst="line">
            <a:avLst/>
          </a:prstGeom>
          <a:noFill/>
          <a:ln w="12700">
            <a:solidFill>
              <a:srgbClr val="2942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892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and low-confidence flags happen before a result is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presented as a confident diagnosis.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12A52"/>
          </a:solidFill>
          <a:ln w="12700">
            <a:solidFill>
              <a:srgbClr val="2942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17B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VISUALS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423160"/>
            <a:ext cx="457200" cy="457200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2761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heatmaps from intermediate Swin token grids.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3429000"/>
            <a:ext cx="457200" cy="457200"/>
          </a:xfrm>
          <a:prstGeom prst="ellipse">
            <a:avLst/>
          </a:prstGeom>
          <a:solidFill>
            <a:srgbClr val="17B6B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836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429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Anatomical Viewer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767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custom highlights on a Three.js brain model.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0" y="4343400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0B1E3D"/>
          </a:solidFill>
          <a:ln/>
        </p:spPr>
      </p:sp>
      <p:sp>
        <p:nvSpPr>
          <p:cNvPr id="27" name="Shape 25"/>
          <p:cNvSpPr/>
          <p:nvPr/>
        </p:nvSpPr>
        <p:spPr>
          <a:xfrm>
            <a:off x="6748272" y="4507992"/>
            <a:ext cx="164592" cy="164592"/>
          </a:xfrm>
          <a:prstGeom prst="ellipse">
            <a:avLst/>
          </a:prstGeom>
          <a:solidFill>
            <a:srgbClr val="F055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22592" y="434340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Glioma — intra-axial wash inside a lobe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0" y="4965192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0B1E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748272" y="5129784"/>
            <a:ext cx="164592" cy="164592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22592" y="496519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Meningioma — external lump on cortical surface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NeuroScope — Brain Tumor MRI Classification System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672</Words>
  <Application>Microsoft Office PowerPoint</Application>
  <PresentationFormat>Widescreen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2</cp:revision>
  <dcterms:created xsi:type="dcterms:W3CDTF">2026-08-26T10:31:02Z</dcterms:created>
  <dcterms:modified xsi:type="dcterms:W3CDTF">2026-08-26T12:04:03Z</dcterms:modified>
</cp:coreProperties>
</file>